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5" r:id="rId5"/>
    <p:sldId id="266" r:id="rId6"/>
    <p:sldId id="267" r:id="rId7"/>
    <p:sldId id="274" r:id="rId8"/>
    <p:sldId id="268" r:id="rId9"/>
    <p:sldId id="275" r:id="rId10"/>
    <p:sldId id="269" r:id="rId11"/>
    <p:sldId id="270" r:id="rId12"/>
    <p:sldId id="271" r:id="rId13"/>
    <p:sldId id="272" r:id="rId14"/>
    <p:sldId id="273" r:id="rId15"/>
    <p:sldId id="264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29">
          <p15:clr>
            <a:srgbClr val="A4A3A4"/>
          </p15:clr>
        </p15:guide>
        <p15:guide id="2" pos="2883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8Bc9dRFVM3CCzht5vP4IeT0ti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A33B44-D242-46F7-B3CF-05086C021739}">
  <a:tblStyle styleId="{72A33B44-D242-46F7-B3CF-05086C0217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29"/>
        <p:guide pos="28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customschemas.google.com/relationships/presentationmetadata" Target="metadata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11FD431-0804-0AD7-3EBD-A4202ED9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40774F44-6076-BF03-5C07-722E87CC9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EA1A8FF5-E8DE-3802-8717-D60CB516B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6199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25AE303-A728-9523-EE44-DC66CB5A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9DFED9ED-849A-29CA-9DEB-5759CD75C6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A7A1E021-51D3-94E5-2FF7-89867AAAA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9735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CE769C8-A362-C9D5-E27B-BA6B550F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9D41E08A-2B79-638B-FAC0-4828AC306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746DACB9-4C91-8AB0-1EC9-3B8B52E4E7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743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B6843B5-BCC9-924A-B07C-0E47A883D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B8B71DEB-1E74-E92C-032D-C67E87998A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32D2E51D-4A56-79DE-7A16-7E35A8937C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2251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951EDAF-876C-B8B1-381D-E0E27E45E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46167D90-088F-DCAE-CADA-D734466A3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EB42509A-C500-DCA9-C90D-FD7175363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870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2933897-49C9-88D2-BFDC-81F5D71C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22283C39-C0C3-DF41-A1E3-CF1C037A3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F1CDA4EC-405F-D1D5-B228-E4DEF3FB6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8001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6296B37-D48D-B86F-C58E-F47EC6E65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B712637A-EE18-EADA-C282-4309FE52A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702331B6-DAAF-34CE-FA3F-41E7E4BE0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7056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95B7BE4-C5D3-9BA8-CEC5-9EF33049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7F7F8035-958F-4A0B-316A-E40F3F61B0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A7412C43-B2ED-1EAE-22A3-C29D160AEF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566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10F4A36-9536-609C-CA28-160A702B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C2FACF3A-CDB7-82D7-1EC7-194E1FE400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B067E519-7A3E-FB44-1B32-EC89687772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9661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9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nit.edu.in/computer-science-engineering/" TargetMode="External" /><Relationship Id="rId4" Type="http://schemas.openxmlformats.org/officeDocument/2006/relationships/image" Target="../media/image2.jp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nit.edu.in/computer-science-engineering/" TargetMode="External" /><Relationship Id="rId4" Type="http://schemas.openxmlformats.org/officeDocument/2006/relationships/image" Target="../media/image2.jp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nit.edu.in/computer-science-engineering/" TargetMode="External" /><Relationship Id="rId4" Type="http://schemas.openxmlformats.org/officeDocument/2006/relationships/image" Target="../media/image2.jp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microsoft.com/office/2007/relationships/hdphoto" Target="../media/hdphoto1.wdp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png" /><Relationship Id="rId5" Type="http://schemas.openxmlformats.org/officeDocument/2006/relationships/hyperlink" Target="https://nit.edu.in/computer-science-engineering/" TargetMode="External" /><Relationship Id="rId4" Type="http://schemas.openxmlformats.org/officeDocument/2006/relationships/image" Target="../media/image2.jp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nit.edu.in/computer-science-engineering/" TargetMode="External" /><Relationship Id="rId4" Type="http://schemas.openxmlformats.org/officeDocument/2006/relationships/image" Target="../media/image2.jp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4.xml" /><Relationship Id="rId5" Type="http://schemas.openxmlformats.org/officeDocument/2006/relationships/hyperlink" Target="https://nit.edu.in/computer-science-engineering/" TargetMode="External" /><Relationship Id="rId4" Type="http://schemas.openxmlformats.org/officeDocument/2006/relationships/image" Target="../media/image2.jp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4.xml" /><Relationship Id="rId4" Type="http://schemas.openxmlformats.org/officeDocument/2006/relationships/hyperlink" Target="https://nit.edu.in/computer-science-engineering/" TargetMode="Externa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5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jpeg" /><Relationship Id="rId5" Type="http://schemas.openxmlformats.org/officeDocument/2006/relationships/hyperlink" Target="https://nit.edu.in/computer-science-engineering/" TargetMode="External" /><Relationship Id="rId4" Type="http://schemas.openxmlformats.org/officeDocument/2006/relationships/image" Target="../media/image2.jp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jpe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nit.edu.in/computer-science-engineering/" TargetMode="External" /><Relationship Id="rId4" Type="http://schemas.openxmlformats.org/officeDocument/2006/relationships/image" Target="../media/image2.jp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nit.edu.in/computer-science-engineering/" TargetMode="External" /><Relationship Id="rId4" Type="http://schemas.openxmlformats.org/officeDocument/2006/relationships/image" Target="../media/image2.jp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nit.edu.in/computer-science-engineering/" TargetMode="External" /><Relationship Id="rId4" Type="http://schemas.openxmlformats.org/officeDocument/2006/relationships/image" Target="../media/image2.jp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microsoft.com/office/2007/relationships/hdphoto" Target="../media/hdphoto2.wdp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9.png" /><Relationship Id="rId5" Type="http://schemas.openxmlformats.org/officeDocument/2006/relationships/hyperlink" Target="https://nit.edu.in/computer-science-engineering/" TargetMode="External" /><Relationship Id="rId4" Type="http://schemas.openxmlformats.org/officeDocument/2006/relationships/image" Target="../media/image2.jp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nit.edu.in/computer-science-engineering/" TargetMode="External" /><Relationship Id="rId4" Type="http://schemas.openxmlformats.org/officeDocument/2006/relationships/image" Target="../media/image2.jp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NIT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descr="Shri Sai Shikshan Sanstha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Shikshan Sanstha’s</a:t>
            </a:r>
            <a:endParaRPr sz="10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Mahurzari, Near Fetri, Katol Road, Nagpur-441501</a:t>
            </a:r>
            <a:endParaRPr/>
          </a:p>
        </p:txBody>
      </p:sp>
      <p:sp>
        <p:nvSpPr>
          <p:cNvPr id="91" name="Google Shape;91;p1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CSE, NIT, Nagpur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subTitle" idx="4294967295"/>
          </p:nvPr>
        </p:nvSpPr>
        <p:spPr>
          <a:xfrm>
            <a:off x="792162" y="1400575"/>
            <a:ext cx="7788275" cy="474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51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Department of Computer Science and Engineering</a:t>
            </a:r>
            <a:endParaRPr sz="4000" dirty="0"/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4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Progress Seminar – </a:t>
            </a:r>
            <a:r>
              <a:rPr lang="en-IN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4000" b="1" dirty="0"/>
              <a:t>o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4000" dirty="0"/>
          </a:p>
          <a:p>
            <a:pPr marL="0" indent="0" algn="ctr">
              <a:buSzPct val="100000"/>
              <a:buNone/>
            </a:pPr>
            <a:r>
              <a:rPr lang="en-US" sz="4100" dirty="0">
                <a:solidFill>
                  <a:srgbClr val="03030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FARM CONNECT: PATHWAY TO PROGRESS</a:t>
            </a:r>
            <a:endParaRPr lang="en-US" sz="4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IN" sz="2300" b="1" dirty="0"/>
              <a:t>Marshal Alone, Vaishnavi </a:t>
            </a:r>
            <a:r>
              <a:rPr lang="en-IN" sz="2300" b="1" dirty="0" err="1"/>
              <a:t>Getme</a:t>
            </a:r>
            <a:r>
              <a:rPr lang="en-IN" sz="2300" b="1" dirty="0"/>
              <a:t>, </a:t>
            </a:r>
            <a:r>
              <a:rPr lang="en-IN" sz="2300" b="1" dirty="0" err="1"/>
              <a:t>Mrunali</a:t>
            </a:r>
            <a:r>
              <a:rPr lang="en-IN" sz="2300" b="1" dirty="0"/>
              <a:t> </a:t>
            </a:r>
            <a:r>
              <a:rPr lang="en-IN" sz="2300" b="1" dirty="0" err="1"/>
              <a:t>Umak</a:t>
            </a:r>
            <a:r>
              <a:rPr lang="en-IN" sz="2300" b="1" dirty="0"/>
              <a:t>, Sanskruti Patil, Aditya Kawale</a:t>
            </a:r>
            <a:endParaRPr sz="2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 descr="NIT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descr="Shri Sai Shikshan Sanstha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Shikshan Sanstha’s</a:t>
            </a:r>
            <a:endParaRPr sz="10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Mahurzari, Near Fetri, Katol Road, Nagpur-441501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503238" y="1371600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3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/>
          </a:p>
        </p:txBody>
      </p:sp>
      <p:sp>
        <p:nvSpPr>
          <p:cNvPr id="104" name="Google Shape;104;p2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CSE, NIT, Nagpur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29624-F01C-8191-074B-F76EF30F3E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03238" y="2092325"/>
            <a:ext cx="7560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●</a:t>
            </a:r>
            <a:r>
              <a:rPr lang="en-US" dirty="0"/>
              <a:t>Project Title &amp; Group Details</a:t>
            </a:r>
            <a:endParaRPr lang="en-IN" dirty="0"/>
          </a:p>
          <a:p>
            <a:endParaRPr lang="en-IN" dirty="0"/>
          </a:p>
          <a:p>
            <a:r>
              <a:rPr lang="en-IN" dirty="0"/>
              <a:t>●</a:t>
            </a:r>
            <a:r>
              <a:rPr lang="en-US" dirty="0"/>
              <a:t>Problem Definition, Aim &amp; Objectives</a:t>
            </a:r>
            <a:endParaRPr lang="en-IN" dirty="0"/>
          </a:p>
          <a:p>
            <a:endParaRPr lang="en-IN" dirty="0"/>
          </a:p>
          <a:p>
            <a:r>
              <a:rPr lang="en-IN" dirty="0"/>
              <a:t>●</a:t>
            </a:r>
            <a:r>
              <a:rPr lang="en-US" dirty="0"/>
              <a:t>Recap of Seminar–I Work</a:t>
            </a:r>
            <a:endParaRPr lang="en-IN" dirty="0"/>
          </a:p>
          <a:p>
            <a:endParaRPr lang="en-IN" dirty="0"/>
          </a:p>
          <a:p>
            <a:r>
              <a:rPr lang="en-IN" dirty="0"/>
              <a:t>●</a:t>
            </a:r>
            <a:r>
              <a:rPr lang="en-US" dirty="0"/>
              <a:t>Current Progress since last seminar</a:t>
            </a:r>
            <a:endParaRPr lang="en-IN" dirty="0"/>
          </a:p>
          <a:p>
            <a:endParaRPr lang="en-IN" dirty="0"/>
          </a:p>
          <a:p>
            <a:r>
              <a:rPr lang="en-IN" dirty="0"/>
              <a:t>●</a:t>
            </a:r>
            <a:r>
              <a:rPr lang="en-US" dirty="0"/>
              <a:t>System Design / Implementation screenshots / Developed Modules</a:t>
            </a:r>
            <a:endParaRPr lang="en-IN" dirty="0"/>
          </a:p>
          <a:p>
            <a:endParaRPr lang="en-IN" dirty="0"/>
          </a:p>
          <a:p>
            <a:r>
              <a:rPr lang="en-IN" dirty="0"/>
              <a:t>●</a:t>
            </a:r>
            <a:r>
              <a:rPr lang="en-US" dirty="0"/>
              <a:t>Testing &amp; Results</a:t>
            </a:r>
            <a:endParaRPr lang="en-IN" dirty="0"/>
          </a:p>
          <a:p>
            <a:endParaRPr lang="en-IN" dirty="0"/>
          </a:p>
          <a:p>
            <a:r>
              <a:rPr lang="en-IN" dirty="0"/>
              <a:t>●</a:t>
            </a:r>
            <a:r>
              <a:rPr lang="en-US" dirty="0"/>
              <a:t>Challenges faced and Solutions implemented</a:t>
            </a:r>
            <a:endParaRPr lang="en-IN" dirty="0"/>
          </a:p>
          <a:p>
            <a:endParaRPr lang="en-IN" dirty="0"/>
          </a:p>
          <a:p>
            <a:r>
              <a:rPr lang="en-IN" dirty="0"/>
              <a:t>●</a:t>
            </a:r>
            <a:r>
              <a:rPr lang="en-US" dirty="0"/>
              <a:t>Remaining Work &amp; Timeline</a:t>
            </a:r>
            <a:endParaRPr lang="en-IN" dirty="0"/>
          </a:p>
          <a:p>
            <a:endParaRPr lang="en-IN" dirty="0"/>
          </a:p>
          <a:p>
            <a:r>
              <a:rPr lang="en-IN" dirty="0"/>
              <a:t>●</a:t>
            </a:r>
            <a:r>
              <a:rPr lang="en-US" dirty="0"/>
              <a:t>Budget </a:t>
            </a:r>
            <a:r>
              <a:rPr lang="en-US" dirty="0" err="1"/>
              <a:t>Utilisation</a:t>
            </a:r>
            <a:r>
              <a:rPr lang="en-US" dirty="0"/>
              <a:t> &amp; Resource Requirements</a:t>
            </a:r>
            <a:endParaRPr lang="en-IN" dirty="0"/>
          </a:p>
          <a:p>
            <a:endParaRPr lang="en-IN" dirty="0"/>
          </a:p>
          <a:p>
            <a:r>
              <a:rPr lang="en-IN" dirty="0"/>
              <a:t>●</a:t>
            </a:r>
            <a:r>
              <a:rPr lang="en-US" dirty="0"/>
              <a:t>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Shikshan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Mahurzari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Near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Katol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473936" y="1230449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485"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Title &amp; Group Details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/>
              <a:buNone/>
            </a:pP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38200" y="1916249"/>
            <a:ext cx="7620000" cy="411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buClr>
                <a:schemeClr val="dk1"/>
              </a:buClr>
              <a:buSzPts val="3200"/>
            </a:pPr>
            <a:endParaRPr lang="en-US" sz="2400" b="1" dirty="0">
              <a:solidFill>
                <a:srgbClr val="030303"/>
              </a:solidFill>
              <a:latin typeface="DM Sans Semi Bold" pitchFamily="34" charset="0"/>
              <a:ea typeface="DM Sans Semi Bold" pitchFamily="34" charset="-122"/>
              <a:cs typeface="DM Sans Semi Bold" pitchFamily="34" charset="-120"/>
            </a:endParaRPr>
          </a:p>
          <a:p>
            <a:pPr algn="ctr">
              <a:buClr>
                <a:schemeClr val="dk1"/>
              </a:buClr>
              <a:buSzPts val="3200"/>
            </a:pPr>
            <a:r>
              <a:rPr lang="en-US" sz="2000" b="1" dirty="0">
                <a:solidFill>
                  <a:srgbClr val="030303"/>
                </a:solidFill>
                <a:latin typeface="+mn-lt"/>
                <a:ea typeface="DM Sans Semi Bold" pitchFamily="34" charset="-122"/>
                <a:cs typeface="DM Sans Semi Bold" pitchFamily="34" charset="-120"/>
              </a:rPr>
              <a:t>FARM CONNECT: PATHWAY TO PROGRESS</a:t>
            </a:r>
            <a:endParaRPr lang="en-US" sz="2400" b="1" dirty="0">
              <a:solidFill>
                <a:srgbClr val="030303"/>
              </a:solidFill>
              <a:latin typeface="DM Sans Semi Bold" pitchFamily="34" charset="0"/>
              <a:ea typeface="DM Sans Semi Bold" pitchFamily="34" charset="-122"/>
              <a:cs typeface="DM Sans Semi Bold" pitchFamily="34" charset="-120"/>
            </a:endParaRPr>
          </a:p>
          <a:p>
            <a:pPr algn="ctr">
              <a:buClr>
                <a:schemeClr val="dk1"/>
              </a:buClr>
              <a:buSzPts val="3200"/>
            </a:pPr>
            <a:r>
              <a:rPr lang="en-US" sz="2000" dirty="0">
                <a:solidFill>
                  <a:srgbClr val="464646"/>
                </a:solidFill>
                <a:latin typeface="Eras Demi ITC" panose="020B0805030504020804" pitchFamily="34" charset="0"/>
                <a:ea typeface="Inter Medium" pitchFamily="34" charset="-122"/>
                <a:cs typeface="Inter Medium" pitchFamily="34" charset="-120"/>
              </a:rPr>
              <a:t>Empowering Indian Farmers Through Innovation</a:t>
            </a:r>
            <a:endParaRPr lang="en-US" sz="2000" dirty="0">
              <a:latin typeface="Eras Demi ITC" panose="020B0805030504020804" pitchFamily="34" charset="0"/>
            </a:endParaRPr>
          </a:p>
          <a:p>
            <a:pPr algn="ctr">
              <a:buClr>
                <a:schemeClr val="dk1"/>
              </a:buClr>
              <a:buSzPts val="3200"/>
            </a:pPr>
            <a:endParaRPr lang="en-US" sz="2400" b="1" dirty="0">
              <a:solidFill>
                <a:srgbClr val="030303"/>
              </a:solidFill>
              <a:latin typeface="DM Sans Semi Bold" pitchFamily="34" charset="0"/>
              <a:ea typeface="DM Sans Semi Bold" pitchFamily="34" charset="-122"/>
              <a:cs typeface="DM Sans Semi Bold" pitchFamily="34" charset="-120"/>
            </a:endParaRPr>
          </a:p>
          <a:p>
            <a:pPr>
              <a:buClr>
                <a:schemeClr val="dk1"/>
              </a:buClr>
              <a:buSzPts val="3200"/>
            </a:pPr>
            <a:endParaRPr lang="en-US" sz="2400" b="1" dirty="0"/>
          </a:p>
          <a:p>
            <a:pPr lvl="0"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</a:p>
          <a:p>
            <a:pPr marL="285750" lvl="0" indent="-285750"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Marshal Alone </a:t>
            </a:r>
          </a:p>
          <a:p>
            <a:pPr marL="285750" lvl="0" indent="-285750"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Vaishnavi </a:t>
            </a:r>
            <a:r>
              <a:rPr lang="en-US" sz="1600" b="1" dirty="0" err="1"/>
              <a:t>Getme</a:t>
            </a:r>
            <a:r>
              <a:rPr lang="en-US" sz="1600" b="1" dirty="0"/>
              <a:t> </a:t>
            </a:r>
          </a:p>
          <a:p>
            <a:pPr marL="285750" lvl="0" indent="-285750"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/>
              <a:t>Mrunali</a:t>
            </a:r>
            <a:r>
              <a:rPr lang="en-US" sz="1600" b="1" dirty="0"/>
              <a:t> </a:t>
            </a:r>
            <a:r>
              <a:rPr lang="en-US" sz="1600" b="1" dirty="0" err="1"/>
              <a:t>Umak</a:t>
            </a:r>
            <a:r>
              <a:rPr lang="en-US" sz="1600" b="1" dirty="0"/>
              <a:t> </a:t>
            </a:r>
          </a:p>
          <a:p>
            <a:pPr marL="285750" lvl="0" indent="-285750"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Sanskruti Patil </a:t>
            </a:r>
          </a:p>
          <a:p>
            <a:pPr marL="285750" lvl="0" indent="-285750"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Aditya Kawale</a:t>
            </a:r>
            <a:endParaRPr lang="en-US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5A5569C-9B7A-65E5-5D20-DFDB75DA5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>
            <a:extLst>
              <a:ext uri="{FF2B5EF4-FFF2-40B4-BE49-F238E27FC236}">
                <a16:creationId xmlns:a16="http://schemas.microsoft.com/office/drawing/2014/main" id="{BD137624-271B-148E-CDFF-9B8D2522C1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>
            <a:extLst>
              <a:ext uri="{FF2B5EF4-FFF2-40B4-BE49-F238E27FC236}">
                <a16:creationId xmlns:a16="http://schemas.microsoft.com/office/drawing/2014/main" id="{6E9DF2DE-EE97-1DE6-F314-A79D7700FE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052AF0F4-8DC6-E1CE-4345-AAC7B06D8377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005BC6FB-1DC1-A81E-E854-1EC697E8DAE3}"/>
              </a:ext>
            </a:extLst>
          </p:cNvPr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Shikshan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Mahurzari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Near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Katol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Road, Nagpur-441501</a:t>
            </a:r>
            <a:endParaRPr dirty="0"/>
          </a:p>
        </p:txBody>
      </p:sp>
      <p:sp>
        <p:nvSpPr>
          <p:cNvPr id="114" name="Google Shape;114;p3">
            <a:extLst>
              <a:ext uri="{FF2B5EF4-FFF2-40B4-BE49-F238E27FC236}">
                <a16:creationId xmlns:a16="http://schemas.microsoft.com/office/drawing/2014/main" id="{456F7C53-51C8-A60F-3F4D-573C872D9D21}"/>
              </a:ext>
            </a:extLst>
          </p:cNvPr>
          <p:cNvSpPr txBox="1"/>
          <p:nvPr/>
        </p:nvSpPr>
        <p:spPr>
          <a:xfrm>
            <a:off x="473936" y="1281866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485"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/>
              <a:buNone/>
            </a:pP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69DD8393-4B3D-C923-FA11-BFC3B192368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>
            <a:extLst>
              <a:ext uri="{FF2B5EF4-FFF2-40B4-BE49-F238E27FC236}">
                <a16:creationId xmlns:a16="http://schemas.microsoft.com/office/drawing/2014/main" id="{FC7A4CA6-ADF1-04E0-3564-F3FADC5364BC}"/>
              </a:ext>
            </a:extLst>
          </p:cNvPr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">
            <a:extLst>
              <a:ext uri="{FF2B5EF4-FFF2-40B4-BE49-F238E27FC236}">
                <a16:creationId xmlns:a16="http://schemas.microsoft.com/office/drawing/2014/main" id="{351D32D1-4EA3-22D8-A20E-EC6FC9B99C4E}"/>
              </a:ext>
            </a:extLst>
          </p:cNvPr>
          <p:cNvSpPr/>
          <p:nvPr/>
        </p:nvSpPr>
        <p:spPr>
          <a:xfrm>
            <a:off x="533400" y="2256200"/>
            <a:ext cx="762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E0C2E49-F8AA-0EDE-975A-D448C08FFD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9606" y="2133729"/>
            <a:ext cx="8858865" cy="36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6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166E98F-E1F4-9887-0DFB-3DF53AD7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>
            <a:extLst>
              <a:ext uri="{FF2B5EF4-FFF2-40B4-BE49-F238E27FC236}">
                <a16:creationId xmlns:a16="http://schemas.microsoft.com/office/drawing/2014/main" id="{31D7052D-3324-C802-BFF3-95CF95923A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>
            <a:extLst>
              <a:ext uri="{FF2B5EF4-FFF2-40B4-BE49-F238E27FC236}">
                <a16:creationId xmlns:a16="http://schemas.microsoft.com/office/drawing/2014/main" id="{277F0248-95E0-B2FC-B7FD-79E932F95E3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5E3F8ECF-13DD-5B12-A9C3-F61474401B01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4A7D5054-4FA5-30A5-2EA4-2C68BD0788D9}"/>
              </a:ext>
            </a:extLst>
          </p:cNvPr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Shikshan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Mahurzari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Near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Katol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Road, Nagpur-441501</a:t>
            </a:r>
            <a:endParaRPr dirty="0"/>
          </a:p>
        </p:txBody>
      </p:sp>
      <p:sp>
        <p:nvSpPr>
          <p:cNvPr id="114" name="Google Shape;114;p3">
            <a:extLst>
              <a:ext uri="{FF2B5EF4-FFF2-40B4-BE49-F238E27FC236}">
                <a16:creationId xmlns:a16="http://schemas.microsoft.com/office/drawing/2014/main" id="{B4FEA487-263F-FD88-6700-3B528415EC4A}"/>
              </a:ext>
            </a:extLst>
          </p:cNvPr>
          <p:cNvSpPr txBox="1"/>
          <p:nvPr/>
        </p:nvSpPr>
        <p:spPr>
          <a:xfrm>
            <a:off x="533400" y="1045786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485"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 &amp; Objectives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59929A9B-C856-1B54-E67B-F7383F6D9B8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>
            <a:extLst>
              <a:ext uri="{FF2B5EF4-FFF2-40B4-BE49-F238E27FC236}">
                <a16:creationId xmlns:a16="http://schemas.microsoft.com/office/drawing/2014/main" id="{D206C5E7-1C2E-D6B1-B22F-0DBDE523AFF9}"/>
              </a:ext>
            </a:extLst>
          </p:cNvPr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">
            <a:extLst>
              <a:ext uri="{FF2B5EF4-FFF2-40B4-BE49-F238E27FC236}">
                <a16:creationId xmlns:a16="http://schemas.microsoft.com/office/drawing/2014/main" id="{19D21262-497B-1263-9D3E-FAE5475CCF49}"/>
              </a:ext>
            </a:extLst>
          </p:cNvPr>
          <p:cNvSpPr/>
          <p:nvPr/>
        </p:nvSpPr>
        <p:spPr>
          <a:xfrm>
            <a:off x="533400" y="2015685"/>
            <a:ext cx="8295968" cy="541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buClr>
                <a:schemeClr val="dk1"/>
              </a:buClr>
              <a:buSzPts val="3200"/>
            </a:pPr>
            <a:r>
              <a:rPr lang="en-US" sz="1600" dirty="0">
                <a:solidFill>
                  <a:schemeClr val="tx1"/>
                </a:solidFill>
              </a:rPr>
              <a:t>To develop a comprehensive, multi-functional Agriculture Support System that empowers farmers by providing real-time information, market access, early warnings, and easy access to schemes, loans, and machinery through a user-friendly interface that supports regional languages and voice inputs.</a:t>
            </a:r>
          </a:p>
          <a:p>
            <a:pPr lvl="0">
              <a:buClr>
                <a:schemeClr val="dk1"/>
              </a:buClr>
              <a:buSzPts val="3200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Real-time Information</a:t>
            </a:r>
          </a:p>
          <a:p>
            <a:pPr>
              <a:buClr>
                <a:schemeClr val="dk1"/>
              </a:buClr>
              <a:buSzPts val="3200"/>
            </a:pPr>
            <a:r>
              <a:rPr lang="en-US" sz="1600" dirty="0">
                <a:solidFill>
                  <a:schemeClr val="tx1"/>
                </a:solidFill>
              </a:rPr>
              <a:t>Providing instant, relevant data to farmers.</a:t>
            </a:r>
          </a:p>
          <a:p>
            <a:pPr>
              <a:buClr>
                <a:schemeClr val="dk1"/>
              </a:buClr>
              <a:buSzPts val="3200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Enhanced Market Access</a:t>
            </a:r>
          </a:p>
          <a:p>
            <a:pPr>
              <a:buClr>
                <a:schemeClr val="dk1"/>
              </a:buClr>
              <a:buSzPts val="3200"/>
            </a:pPr>
            <a:r>
              <a:rPr lang="en-US" sz="1600" dirty="0">
                <a:solidFill>
                  <a:schemeClr val="tx1"/>
                </a:solidFill>
              </a:rPr>
              <a:t>Connecting farmers directly to buyers for fair prices.</a:t>
            </a:r>
          </a:p>
          <a:p>
            <a:pPr>
              <a:buClr>
                <a:schemeClr val="dk1"/>
              </a:buClr>
              <a:buSzPts val="3200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Early Warning Systems</a:t>
            </a:r>
          </a:p>
          <a:p>
            <a:pPr>
              <a:buClr>
                <a:schemeClr val="dk1"/>
              </a:buClr>
              <a:buSzPts val="3200"/>
            </a:pPr>
            <a:r>
              <a:rPr lang="en-US" sz="1600" dirty="0">
                <a:solidFill>
                  <a:schemeClr val="tx1"/>
                </a:solidFill>
              </a:rPr>
              <a:t>Alerting farmers to potential threats like disease outbreaks.</a:t>
            </a:r>
          </a:p>
          <a:p>
            <a:pPr>
              <a:buClr>
                <a:schemeClr val="dk1"/>
              </a:buClr>
              <a:buSzPts val="3200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Access to Resources</a:t>
            </a:r>
          </a:p>
          <a:p>
            <a:pPr>
              <a:buClr>
                <a:schemeClr val="dk1"/>
              </a:buClr>
              <a:buSzPts val="3200"/>
            </a:pPr>
            <a:r>
              <a:rPr lang="en-US" sz="1600" dirty="0">
                <a:solidFill>
                  <a:schemeClr val="tx1"/>
                </a:solidFill>
              </a:rPr>
              <a:t>Facilitating easier access to schemes, loans, and machinery.</a:t>
            </a:r>
          </a:p>
          <a:p>
            <a:pPr>
              <a:buClr>
                <a:schemeClr val="dk1"/>
              </a:buClr>
              <a:buSzPts val="3200"/>
            </a:pPr>
            <a:endParaRPr lang="en-US" sz="1800" dirty="0"/>
          </a:p>
          <a:p>
            <a:pPr>
              <a:buClr>
                <a:schemeClr val="dk1"/>
              </a:buClr>
              <a:buSzPts val="3200"/>
            </a:pPr>
            <a:endParaRPr lang="en-US" sz="1800" dirty="0"/>
          </a:p>
          <a:p>
            <a:pPr>
              <a:buClr>
                <a:schemeClr val="dk1"/>
              </a:buClr>
              <a:buSzPts val="3200"/>
            </a:pPr>
            <a:endParaRPr lang="en-US" sz="1800" dirty="0"/>
          </a:p>
          <a:p>
            <a:pPr>
              <a:buClr>
                <a:schemeClr val="dk1"/>
              </a:buClr>
              <a:buSzPts val="3200"/>
            </a:pPr>
            <a:endParaRPr lang="en-US" sz="1800" dirty="0"/>
          </a:p>
          <a:p>
            <a:pPr lvl="0">
              <a:buClr>
                <a:schemeClr val="dk1"/>
              </a:buClr>
              <a:buSzPts val="3200"/>
            </a:pPr>
            <a:endParaRPr sz="18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834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CE2C1B0-64C5-31FC-CB6F-FA006E1CA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>
            <a:extLst>
              <a:ext uri="{FF2B5EF4-FFF2-40B4-BE49-F238E27FC236}">
                <a16:creationId xmlns:a16="http://schemas.microsoft.com/office/drawing/2014/main" id="{82471F29-2E7F-09E8-2E08-14E0FCD25F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>
            <a:extLst>
              <a:ext uri="{FF2B5EF4-FFF2-40B4-BE49-F238E27FC236}">
                <a16:creationId xmlns:a16="http://schemas.microsoft.com/office/drawing/2014/main" id="{743E0E67-FC09-305B-4785-9B227FB91AB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1937F8C6-1180-36BE-4F7C-ACD6E19CBB02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35CDFBB1-9BE9-C7C3-151D-1E2BC2691F51}"/>
              </a:ext>
            </a:extLst>
          </p:cNvPr>
          <p:cNvSpPr/>
          <p:nvPr/>
        </p:nvSpPr>
        <p:spPr>
          <a:xfrm>
            <a:off x="1371600" y="163324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Shikshan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Sanstha’s</a:t>
            </a:r>
            <a:endParaRPr lang="en-US" sz="10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lang="en-US" sz="1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Mahurzari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Near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Katol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Road, Nagpur-441501</a:t>
            </a:r>
            <a:endParaRPr lang="en-US" dirty="0"/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5BB456BC-821A-C489-DAAD-7CBF0308F09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115050" y="64928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>
            <a:extLst>
              <a:ext uri="{FF2B5EF4-FFF2-40B4-BE49-F238E27FC236}">
                <a16:creationId xmlns:a16="http://schemas.microsoft.com/office/drawing/2014/main" id="{9AA643CA-CE05-C59D-F996-7BE63E1A1D36}"/>
              </a:ext>
            </a:extLst>
          </p:cNvPr>
          <p:cNvSpPr txBox="1"/>
          <p:nvPr/>
        </p:nvSpPr>
        <p:spPr>
          <a:xfrm>
            <a:off x="1645722" y="6405751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42FA52-423F-C742-7E2B-6211AA9F8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3045F4-A2DE-C14F-2F3A-AEF2AA2E3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103" y="2587694"/>
            <a:ext cx="7450864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6BC82-84A1-4D74-163B-67842587B146}"/>
              </a:ext>
            </a:extLst>
          </p:cNvPr>
          <p:cNvSpPr txBox="1"/>
          <p:nvPr/>
        </p:nvSpPr>
        <p:spPr>
          <a:xfrm>
            <a:off x="733931" y="1147678"/>
            <a:ext cx="51723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Recap of Seminar–I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06292-B98C-1F44-5533-20A6D790FCE3}"/>
              </a:ext>
            </a:extLst>
          </p:cNvPr>
          <p:cNvSpPr txBox="1"/>
          <p:nvPr/>
        </p:nvSpPr>
        <p:spPr>
          <a:xfrm>
            <a:off x="733931" y="1066800"/>
            <a:ext cx="790473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600" dirty="0"/>
          </a:p>
          <a:p>
            <a:pPr>
              <a:buNone/>
            </a:pPr>
            <a:endParaRPr lang="en-IN" sz="1600" dirty="0"/>
          </a:p>
          <a:p>
            <a:pPr>
              <a:buNone/>
            </a:pP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Conducted </a:t>
            </a:r>
            <a:r>
              <a:rPr lang="en-IN" sz="1600" b="1" dirty="0"/>
              <a:t>planning and requirement analysis</a:t>
            </a:r>
            <a:r>
              <a:rPr lang="en-IN" sz="1600" dirty="0"/>
              <a:t> for the Agriculture Support System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Defined project scope, aim, and objectives.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Identified key challenges faced by farmers, buyers, and institutions.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Gathered requirements through surveys, interviews, and literature review.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Finalized the technology stack for app/web development.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Prepared an initial project roadmap and module planning.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Created a basic wireframe and concept design for the system.</a:t>
            </a:r>
          </a:p>
          <a:p>
            <a:pPr>
              <a:buNone/>
            </a:pPr>
            <a:br>
              <a:rPr lang="en-IN" sz="1600" dirty="0"/>
            </a:br>
            <a:endParaRPr lang="en-IN" sz="1600" dirty="0"/>
          </a:p>
          <a:p>
            <a:pPr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98059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11;p3" descr="Shri Sai Shikshan Sanstha logo">
            <a:extLst>
              <a:ext uri="{FF2B5EF4-FFF2-40B4-BE49-F238E27FC236}">
                <a16:creationId xmlns:a16="http://schemas.microsoft.com/office/drawing/2014/main" id="{D9FFF8D4-14F5-C03A-A7FD-7CBF97003E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0;p3" descr="NIT Logo">
            <a:extLst>
              <a:ext uri="{FF2B5EF4-FFF2-40B4-BE49-F238E27FC236}">
                <a16:creationId xmlns:a16="http://schemas.microsoft.com/office/drawing/2014/main" id="{CEFC8991-C63B-253C-E3FB-A20FC00BBA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13;p3">
            <a:extLst>
              <a:ext uri="{FF2B5EF4-FFF2-40B4-BE49-F238E27FC236}">
                <a16:creationId xmlns:a16="http://schemas.microsoft.com/office/drawing/2014/main" id="{47186D28-8C6A-0E2E-4311-23A30802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-9369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Shikshan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Sanstha’s</a:t>
            </a:r>
            <a:endParaRPr lang="en-US" sz="10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lang="en-US" sz="1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Mahurzari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Near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Katol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Road, Nagpur-441501</a:t>
            </a:r>
            <a:endParaRPr lang="en-US" dirty="0"/>
          </a:p>
        </p:txBody>
      </p:sp>
      <p:sp>
        <p:nvSpPr>
          <p:cNvPr id="17" name="Google Shape;117;p3">
            <a:extLst>
              <a:ext uri="{FF2B5EF4-FFF2-40B4-BE49-F238E27FC236}">
                <a16:creationId xmlns:a16="http://schemas.microsoft.com/office/drawing/2014/main" id="{545091CB-B063-8D99-0C7F-371F4B087D12}"/>
              </a:ext>
            </a:extLst>
          </p:cNvPr>
          <p:cNvSpPr txBox="1"/>
          <p:nvPr/>
        </p:nvSpPr>
        <p:spPr>
          <a:xfrm>
            <a:off x="1537764" y="6397079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16;p3">
            <a:extLst>
              <a:ext uri="{FF2B5EF4-FFF2-40B4-BE49-F238E27FC236}">
                <a16:creationId xmlns:a16="http://schemas.microsoft.com/office/drawing/2014/main" id="{6F5F4CE0-3ABD-45AB-90E4-1BA1D1D879C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115050" y="64928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FC78DA-E126-242D-A069-38AD02D66FBE}"/>
              </a:ext>
            </a:extLst>
          </p:cNvPr>
          <p:cNvSpPr txBox="1"/>
          <p:nvPr/>
        </p:nvSpPr>
        <p:spPr>
          <a:xfrm>
            <a:off x="381000" y="983918"/>
            <a:ext cx="8248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Current Progress since</a:t>
            </a:r>
            <a:r>
              <a:rPr lang="en-IN" sz="2800" b="1" dirty="0"/>
              <a:t> </a:t>
            </a:r>
            <a:r>
              <a:rPr lang="en-US" sz="2800" b="1" dirty="0"/>
              <a:t>last</a:t>
            </a:r>
            <a:r>
              <a:rPr lang="en-IN" sz="2800" b="1" dirty="0"/>
              <a:t> </a:t>
            </a:r>
            <a:r>
              <a:rPr lang="en-US" sz="2800" b="1" dirty="0"/>
              <a:t>seminar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D5CBE-026D-081D-A18E-0661A3CB6A21}"/>
              </a:ext>
            </a:extLst>
          </p:cNvPr>
          <p:cNvSpPr txBox="1"/>
          <p:nvPr/>
        </p:nvSpPr>
        <p:spPr>
          <a:xfrm>
            <a:off x="381000" y="1735251"/>
            <a:ext cx="775494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Progress – September</a:t>
            </a:r>
            <a:r>
              <a:rPr lang="en-IN" sz="1800" b="1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Completed UI/UX design and </a:t>
            </a:r>
            <a:r>
              <a:rPr lang="en-US" sz="1600" dirty="0" err="1"/>
              <a:t>wireframing</a:t>
            </a:r>
            <a:r>
              <a:rPr lang="en-US" sz="1600" dirty="0"/>
              <a:t> for the Agriculture Support System.</a:t>
            </a: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Conducted user needs analysis for farmers, buyers, and institutions to define core requirements.</a:t>
            </a: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Finalized the technology stack for app/web development.</a:t>
            </a: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Designed app and web interfaces for each module with a focus on usability.</a:t>
            </a: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Prepared user flow diagrams for all system modules to ensure seamless navigation</a:t>
            </a:r>
            <a:r>
              <a:rPr lang="en-IN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Developed voice interface layouts for multiple regional languages (Hindi, Marathi, etc.).</a:t>
            </a:r>
          </a:p>
        </p:txBody>
      </p:sp>
    </p:spTree>
    <p:extLst>
      <p:ext uri="{BB962C8B-B14F-4D97-AF65-F5344CB8AC3E}">
        <p14:creationId xmlns:p14="http://schemas.microsoft.com/office/powerpoint/2010/main" val="162787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FB9B43D-3BC0-268D-9EEF-F40518BC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>
            <a:extLst>
              <a:ext uri="{FF2B5EF4-FFF2-40B4-BE49-F238E27FC236}">
                <a16:creationId xmlns:a16="http://schemas.microsoft.com/office/drawing/2014/main" id="{ED5025B2-5EA2-1B5D-1FAF-348FE8CD92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>
            <a:extLst>
              <a:ext uri="{FF2B5EF4-FFF2-40B4-BE49-F238E27FC236}">
                <a16:creationId xmlns:a16="http://schemas.microsoft.com/office/drawing/2014/main" id="{55798255-A866-FC72-CEAA-A289D2E640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094C7A4E-A3F8-5AFF-56F5-BA532D85F8CC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2111FE3B-E472-45AD-BD26-396C48B5D6F9}"/>
              </a:ext>
            </a:extLst>
          </p:cNvPr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Shikshan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Mahurzari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Near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Katol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Road, Nagpur-441501</a:t>
            </a:r>
            <a:endParaRPr dirty="0"/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77E43D51-A95D-9FF6-610E-DBAA00E55F0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>
            <a:extLst>
              <a:ext uri="{FF2B5EF4-FFF2-40B4-BE49-F238E27FC236}">
                <a16:creationId xmlns:a16="http://schemas.microsoft.com/office/drawing/2014/main" id="{64A7947A-5B88-A01B-A8C8-14EDBB682581}"/>
              </a:ext>
            </a:extLst>
          </p:cNvPr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">
            <a:extLst>
              <a:ext uri="{FF2B5EF4-FFF2-40B4-BE49-F238E27FC236}">
                <a16:creationId xmlns:a16="http://schemas.microsoft.com/office/drawing/2014/main" id="{D36E7C59-8AEF-FB17-DF5D-E10A19AE21D3}"/>
              </a:ext>
            </a:extLst>
          </p:cNvPr>
          <p:cNvSpPr/>
          <p:nvPr/>
        </p:nvSpPr>
        <p:spPr>
          <a:xfrm>
            <a:off x="533400" y="2256200"/>
            <a:ext cx="762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A336A-5B05-C99B-0C58-B6BEA225F109}"/>
              </a:ext>
            </a:extLst>
          </p:cNvPr>
          <p:cNvSpPr txBox="1"/>
          <p:nvPr/>
        </p:nvSpPr>
        <p:spPr>
          <a:xfrm>
            <a:off x="533400" y="1097059"/>
            <a:ext cx="8354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System Design / Implementation screenshots / Developed Modules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BFB396-08B0-7D3C-B663-0065731A6A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1" y="2248805"/>
            <a:ext cx="3550991" cy="38597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A2ADEE-68CD-A7CF-31BF-AE83BC3DD4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072" y="2261214"/>
            <a:ext cx="3550991" cy="384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70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95785-F2C0-6AF2-64A6-CE91DF6C8E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30F95-B585-CA1C-37A1-D5A9166F7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45" y="539787"/>
            <a:ext cx="4249425" cy="58165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C3C8E9-AABB-95E2-91A8-F87CB48EA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624" y="632301"/>
            <a:ext cx="4184905" cy="3119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3779C2-59B7-C0B5-CD86-84E14E60B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919822"/>
            <a:ext cx="3992628" cy="261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88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0A389DB-8769-FC6C-008D-4B03F6208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>
            <a:extLst>
              <a:ext uri="{FF2B5EF4-FFF2-40B4-BE49-F238E27FC236}">
                <a16:creationId xmlns:a16="http://schemas.microsoft.com/office/drawing/2014/main" id="{043E6D3C-1B09-D8B3-2130-6A4F96C03B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>
            <a:extLst>
              <a:ext uri="{FF2B5EF4-FFF2-40B4-BE49-F238E27FC236}">
                <a16:creationId xmlns:a16="http://schemas.microsoft.com/office/drawing/2014/main" id="{1BEDCD2D-FBF3-56E0-BDA2-63E8E821F9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20987048-C0F5-9B74-94C9-E6B9EF8A1993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EB4D3337-B316-4021-BC3E-7CC757E01E34}"/>
              </a:ext>
            </a:extLst>
          </p:cNvPr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Shikshan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Mahurzari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Near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Katol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Road, Nagpur-441501</a:t>
            </a:r>
            <a:endParaRPr dirty="0"/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44CADB27-6BEB-448A-0805-AD73E95FD1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>
            <a:extLst>
              <a:ext uri="{FF2B5EF4-FFF2-40B4-BE49-F238E27FC236}">
                <a16:creationId xmlns:a16="http://schemas.microsoft.com/office/drawing/2014/main" id="{DA66BACD-1116-C32E-46C5-A67065AB4423}"/>
              </a:ext>
            </a:extLst>
          </p:cNvPr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4C6E8-24DE-6C0A-903A-D9CC623863FF}"/>
              </a:ext>
            </a:extLst>
          </p:cNvPr>
          <p:cNvSpPr txBox="1"/>
          <p:nvPr/>
        </p:nvSpPr>
        <p:spPr>
          <a:xfrm>
            <a:off x="574200" y="1014433"/>
            <a:ext cx="4570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Testing &amp;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63EC3-50C8-21A4-BD48-F3B04D8EFCA5}"/>
              </a:ext>
            </a:extLst>
          </p:cNvPr>
          <p:cNvSpPr txBox="1"/>
          <p:nvPr/>
        </p:nvSpPr>
        <p:spPr>
          <a:xfrm>
            <a:off x="574200" y="1836623"/>
            <a:ext cx="793487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UI/UX Testing:</a:t>
            </a:r>
            <a:r>
              <a:rPr lang="en-US" dirty="0"/>
              <a:t> Conducted usability tests with a sample group of users to ensure intuitive design and smooth navigation.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Functionality Testing</a:t>
            </a:r>
            <a:r>
              <a:rPr lang="en-US" dirty="0"/>
              <a:t>: Verified working of core interface elements across different devices (mobile, tablet, desktop).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Voice Interface Testing</a:t>
            </a:r>
            <a:r>
              <a:rPr lang="en-US" dirty="0"/>
              <a:t>: Tested voice recognition accuracy for Hindi and Marathi inputs; achieved satisfactory recognition rate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 Testing</a:t>
            </a:r>
            <a:r>
              <a:rPr lang="en-US" dirty="0"/>
              <a:t>: Assessed app responsiveness and load times for different modules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US" sz="1600" b="1" dirty="0"/>
              <a:t>Preliminary Results:</a:t>
            </a: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Positive user feedback on interface simplicity and accessibility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Voice input feature functioning with &gt;85% accuracy in tested scenarios.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 interfaces and flows validated for ease of use by target user groups.</a:t>
            </a:r>
          </a:p>
        </p:txBody>
      </p:sp>
    </p:spTree>
    <p:extLst>
      <p:ext uri="{BB962C8B-B14F-4D97-AF65-F5344CB8AC3E}">
        <p14:creationId xmlns:p14="http://schemas.microsoft.com/office/powerpoint/2010/main" val="541388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3805A58-A6D4-47DE-D953-41B83713E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>
            <a:extLst>
              <a:ext uri="{FF2B5EF4-FFF2-40B4-BE49-F238E27FC236}">
                <a16:creationId xmlns:a16="http://schemas.microsoft.com/office/drawing/2014/main" id="{F2513639-6102-BF9C-967F-A860C39983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>
            <a:extLst>
              <a:ext uri="{FF2B5EF4-FFF2-40B4-BE49-F238E27FC236}">
                <a16:creationId xmlns:a16="http://schemas.microsoft.com/office/drawing/2014/main" id="{B4395F2E-0198-3C69-950A-5A1E2ADC46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3EEA253C-564B-3259-396B-BF899F081F7D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8BD368B7-4185-E33A-504E-96C4F290664D}"/>
              </a:ext>
            </a:extLst>
          </p:cNvPr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Shikshan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Mahurzari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Near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Katol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Road, Nagpur-441501</a:t>
            </a:r>
            <a:endParaRPr dirty="0"/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E457BB7D-7E42-8C8C-2720-1AEB66704E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>
            <a:extLst>
              <a:ext uri="{FF2B5EF4-FFF2-40B4-BE49-F238E27FC236}">
                <a16:creationId xmlns:a16="http://schemas.microsoft.com/office/drawing/2014/main" id="{BBFA2FA5-21B7-C34E-272C-04DF407E026B}"/>
              </a:ext>
            </a:extLst>
          </p:cNvPr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95767-731C-5E58-3E54-8CB95DDC7AE1}"/>
              </a:ext>
            </a:extLst>
          </p:cNvPr>
          <p:cNvSpPr txBox="1"/>
          <p:nvPr/>
        </p:nvSpPr>
        <p:spPr>
          <a:xfrm>
            <a:off x="456120" y="1132353"/>
            <a:ext cx="82317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Challenges faced and Solutions implemented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12A44C-67BC-2D53-ACF5-02B656E5C66C}"/>
              </a:ext>
            </a:extLst>
          </p:cNvPr>
          <p:cNvSpPr txBox="1"/>
          <p:nvPr/>
        </p:nvSpPr>
        <p:spPr>
          <a:xfrm>
            <a:off x="413027" y="1701905"/>
            <a:ext cx="775764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</a:t>
            </a:r>
            <a:r>
              <a:rPr lang="en-IN" dirty="0"/>
              <a:t>.</a:t>
            </a:r>
            <a:r>
              <a:rPr lang="en-US" b="1" dirty="0"/>
              <a:t>Challenge</a:t>
            </a:r>
            <a:r>
              <a:rPr lang="en-US" dirty="0"/>
              <a:t>: Designing an intuitive UI for diverse user groups with varying technical skills</a:t>
            </a:r>
            <a:r>
              <a:rPr lang="en-IN" dirty="0"/>
              <a:t>.</a:t>
            </a:r>
          </a:p>
          <a:p>
            <a:r>
              <a:rPr lang="en-US" b="1" dirty="0"/>
              <a:t>Solution</a:t>
            </a:r>
            <a:r>
              <a:rPr lang="en-US" dirty="0"/>
              <a:t>: Created simple, icon-based navigation with minimal text and voice guidance for</a:t>
            </a:r>
            <a:r>
              <a:rPr lang="en-IN" dirty="0"/>
              <a:t>.           </a:t>
            </a:r>
            <a:r>
              <a:rPr lang="en-US" dirty="0"/>
              <a:t>ease of use.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2</a:t>
            </a:r>
            <a:r>
              <a:rPr lang="en-IN" dirty="0"/>
              <a:t>.</a:t>
            </a:r>
            <a:r>
              <a:rPr lang="en-US" b="1" dirty="0"/>
              <a:t>Challenge</a:t>
            </a:r>
            <a:r>
              <a:rPr lang="en-US" dirty="0"/>
              <a:t>: Ensuring accurate voice recognition for multiple regional languages (Hindi, </a:t>
            </a:r>
            <a:r>
              <a:rPr lang="en-IN" dirty="0"/>
              <a:t>  </a:t>
            </a:r>
            <a:r>
              <a:rPr lang="en-US" dirty="0"/>
              <a:t>Marathi, etc.).</a:t>
            </a:r>
            <a:endParaRPr lang="en-IN" dirty="0"/>
          </a:p>
          <a:p>
            <a:r>
              <a:rPr lang="en-US" b="1" dirty="0"/>
              <a:t>Solution</a:t>
            </a:r>
            <a:r>
              <a:rPr lang="en-US" dirty="0"/>
              <a:t>: Integrated advanced multilingual voice recognition APIs and tested extensively with native speakers.</a:t>
            </a: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  <a:p>
            <a:r>
              <a:rPr lang="en-IN" b="1" dirty="0"/>
              <a:t>3</a:t>
            </a:r>
            <a:r>
              <a:rPr lang="en-IN" dirty="0"/>
              <a:t>.</a:t>
            </a:r>
            <a:r>
              <a:rPr lang="en-US" b="1" dirty="0"/>
              <a:t>Challenge</a:t>
            </a:r>
            <a:r>
              <a:rPr lang="en-US" dirty="0"/>
              <a:t>: Identifying comprehensive user needs across farmers, buyers, and institutions</a:t>
            </a:r>
            <a:r>
              <a:rPr lang="en-IN" dirty="0"/>
              <a:t>.</a:t>
            </a:r>
          </a:p>
          <a:p>
            <a:r>
              <a:rPr lang="en-US" b="1" dirty="0"/>
              <a:t>Solution</a:t>
            </a:r>
            <a:r>
              <a:rPr lang="en-US" dirty="0"/>
              <a:t>: Conducted surveys, interviews, and field visits to gather relevant requirements.</a:t>
            </a: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  <a:p>
            <a:r>
              <a:rPr lang="en-IN" b="1" dirty="0"/>
              <a:t>4</a:t>
            </a:r>
            <a:r>
              <a:rPr lang="en-IN" dirty="0"/>
              <a:t>.</a:t>
            </a:r>
            <a:r>
              <a:rPr lang="en-US" b="1" dirty="0"/>
              <a:t>Challenge</a:t>
            </a:r>
            <a:r>
              <a:rPr lang="en-IN" dirty="0"/>
              <a:t>:</a:t>
            </a:r>
            <a:r>
              <a:rPr lang="en-US" dirty="0"/>
              <a:t>Balancing feature complexity with performance efficiency</a:t>
            </a:r>
            <a:r>
              <a:rPr lang="en-IN" dirty="0"/>
              <a:t>.</a:t>
            </a:r>
          </a:p>
          <a:p>
            <a:r>
              <a:rPr lang="en-US" b="1" dirty="0"/>
              <a:t>Solution</a:t>
            </a:r>
            <a:r>
              <a:rPr lang="en-IN" dirty="0"/>
              <a:t>:</a:t>
            </a:r>
            <a:r>
              <a:rPr lang="en-US" dirty="0"/>
              <a:t>Optimized code structure, selected a robust technology stack, and modularized system components.</a:t>
            </a: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  <a:p>
            <a:r>
              <a:rPr lang="en-IN" b="1" dirty="0"/>
              <a:t>5</a:t>
            </a:r>
            <a:r>
              <a:rPr lang="en-IN" dirty="0"/>
              <a:t>.</a:t>
            </a:r>
            <a:r>
              <a:rPr lang="en-US" b="1" dirty="0"/>
              <a:t>Challenge</a:t>
            </a:r>
            <a:r>
              <a:rPr lang="en-IN" dirty="0"/>
              <a:t>:</a:t>
            </a:r>
            <a:r>
              <a:rPr lang="en-US" dirty="0"/>
              <a:t>Maintaining consistency in design across mobile and web interfaces.</a:t>
            </a:r>
            <a:endParaRPr lang="en-IN" dirty="0"/>
          </a:p>
          <a:p>
            <a:r>
              <a:rPr lang="en-US" b="1" dirty="0"/>
              <a:t>Solution</a:t>
            </a:r>
            <a:r>
              <a:rPr lang="en-IN" dirty="0"/>
              <a:t>:</a:t>
            </a:r>
            <a:r>
              <a:rPr lang="en-US" dirty="0"/>
              <a:t>Developed standardized style guides and reusable UI components for cross-platform uniformity.</a:t>
            </a:r>
          </a:p>
        </p:txBody>
      </p:sp>
    </p:spTree>
    <p:extLst>
      <p:ext uri="{BB962C8B-B14F-4D97-AF65-F5344CB8AC3E}">
        <p14:creationId xmlns:p14="http://schemas.microsoft.com/office/powerpoint/2010/main" val="1184975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68D4A9B-7253-8CC4-1CE0-FB10C44FE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>
            <a:extLst>
              <a:ext uri="{FF2B5EF4-FFF2-40B4-BE49-F238E27FC236}">
                <a16:creationId xmlns:a16="http://schemas.microsoft.com/office/drawing/2014/main" id="{13483784-63D7-01A1-8DEF-EF3C0D17FD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>
            <a:extLst>
              <a:ext uri="{FF2B5EF4-FFF2-40B4-BE49-F238E27FC236}">
                <a16:creationId xmlns:a16="http://schemas.microsoft.com/office/drawing/2014/main" id="{B48C3101-B449-1131-A861-5CE977142BE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57A4E55F-BF4A-8D3A-2A24-D6339C5269FF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2EB59E4E-6FB9-68E0-EB9C-46746C5BCEA6}"/>
              </a:ext>
            </a:extLst>
          </p:cNvPr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Shikshan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Mahurzari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Near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Katol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Road, Nagpur-441501</a:t>
            </a:r>
            <a:endParaRPr dirty="0"/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85A41337-7655-3DD0-ED68-FAA4F0E8F6A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>
            <a:extLst>
              <a:ext uri="{FF2B5EF4-FFF2-40B4-BE49-F238E27FC236}">
                <a16:creationId xmlns:a16="http://schemas.microsoft.com/office/drawing/2014/main" id="{0BDBD27C-34EC-7C47-6AD3-8C12F5962BCB}"/>
              </a:ext>
            </a:extLst>
          </p:cNvPr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3CAC4-B498-7898-0E63-92CF2D81AF03}"/>
              </a:ext>
            </a:extLst>
          </p:cNvPr>
          <p:cNvSpPr txBox="1"/>
          <p:nvPr/>
        </p:nvSpPr>
        <p:spPr>
          <a:xfrm>
            <a:off x="611759" y="1067794"/>
            <a:ext cx="56136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Remaining Work &amp; Timeline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AE33F4-69FF-67C9-4455-AF345CDF8939}"/>
              </a:ext>
            </a:extLst>
          </p:cNvPr>
          <p:cNvSpPr txBox="1"/>
          <p:nvPr/>
        </p:nvSpPr>
        <p:spPr>
          <a:xfrm>
            <a:off x="787190" y="1666967"/>
            <a:ext cx="756962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October</a:t>
            </a:r>
            <a:endParaRPr lang="en-IN" sz="1200" b="1" dirty="0"/>
          </a:p>
          <a:p>
            <a:r>
              <a:rPr lang="en-US" sz="1200" dirty="0"/>
              <a:t>Begin core module development for the Agriculture Support </a:t>
            </a:r>
            <a:r>
              <a:rPr lang="en-US" sz="1200" dirty="0" err="1"/>
              <a:t>System.Develop</a:t>
            </a:r>
            <a:r>
              <a:rPr lang="en-US" sz="1200" dirty="0"/>
              <a:t> advanced modules with planned functionality</a:t>
            </a:r>
            <a:endParaRPr lang="en-IN" sz="1200" dirty="0"/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November</a:t>
            </a:r>
            <a:r>
              <a:rPr lang="en-US" sz="1200" dirty="0"/>
              <a:t> </a:t>
            </a:r>
            <a:endParaRPr lang="en-IN" sz="1200" dirty="0"/>
          </a:p>
          <a:p>
            <a:r>
              <a:rPr lang="en-US" sz="1200" dirty="0"/>
              <a:t>Implement crop disease prediction module (ML or rule-based).Develop government schemes recommender and loan eligibility </a:t>
            </a:r>
            <a:r>
              <a:rPr lang="en-US" sz="1200" dirty="0" err="1"/>
              <a:t>checker.Create</a:t>
            </a:r>
            <a:r>
              <a:rPr lang="en-US" sz="1200" dirty="0"/>
              <a:t> equipment rental system with calendar and location </a:t>
            </a:r>
            <a:r>
              <a:rPr lang="en-US" sz="1200" dirty="0" err="1"/>
              <a:t>filters.Develop</a:t>
            </a:r>
            <a:r>
              <a:rPr lang="en-US" sz="1200" dirty="0"/>
              <a:t> AI </a:t>
            </a:r>
            <a:r>
              <a:rPr lang="en-US" sz="1200" dirty="0" err="1"/>
              <a:t>chatbot</a:t>
            </a:r>
            <a:r>
              <a:rPr lang="en-US" sz="1200" dirty="0"/>
              <a:t> with multilingual and voice </a:t>
            </a:r>
            <a:r>
              <a:rPr lang="en-US" sz="1200" dirty="0" err="1"/>
              <a:t>support.Begin</a:t>
            </a:r>
            <a:r>
              <a:rPr lang="en-US" sz="1200" dirty="0"/>
              <a:t> backend database integration.</a:t>
            </a:r>
            <a:endParaRPr lang="en-IN" sz="1200" dirty="0"/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December</a:t>
            </a:r>
            <a:r>
              <a:rPr lang="en-US" sz="1200" dirty="0"/>
              <a:t> </a:t>
            </a:r>
            <a:endParaRPr lang="en-IN" sz="1200" dirty="0"/>
          </a:p>
          <a:p>
            <a:r>
              <a:rPr lang="en-US" sz="1200" dirty="0"/>
              <a:t>Complete </a:t>
            </a:r>
            <a:r>
              <a:rPr lang="en-IN" sz="1200" dirty="0"/>
              <a:t>I</a:t>
            </a:r>
            <a:r>
              <a:rPr lang="en-US" sz="1200" dirty="0" err="1"/>
              <a:t>ntegration</a:t>
            </a:r>
            <a:r>
              <a:rPr lang="en-US" sz="1200" dirty="0"/>
              <a:t> of all </a:t>
            </a:r>
            <a:r>
              <a:rPr lang="en-US" sz="1200" dirty="0" err="1"/>
              <a:t>modules.Conduct</a:t>
            </a:r>
            <a:r>
              <a:rPr lang="en-US" sz="1200" dirty="0"/>
              <a:t> mid-level testing of integrated components.</a:t>
            </a:r>
            <a:endParaRPr lang="en-IN" sz="1200" dirty="0"/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January</a:t>
            </a:r>
            <a:r>
              <a:rPr lang="en-US" sz="1200" dirty="0"/>
              <a:t> </a:t>
            </a:r>
            <a:endParaRPr lang="en-IN" sz="1200" dirty="0"/>
          </a:p>
          <a:p>
            <a:r>
              <a:rPr lang="en-US" sz="1200" dirty="0"/>
              <a:t>Perform final testing (UI, functional, usability, and security).Setup deployment environment and combine front-end and back-end modules. Integrate APIs: speech-to-text, weather data, UPI payments. </a:t>
            </a:r>
            <a:endParaRPr lang="en-IN" sz="1200" dirty="0"/>
          </a:p>
          <a:p>
            <a:r>
              <a:rPr lang="en-US" sz="1200" dirty="0"/>
              <a:t>Deploy system on cloud platform (Firebase/AWS).Prepare for pilot demo with real users</a:t>
            </a:r>
            <a:endParaRPr lang="en-IN" sz="1200" dirty="0"/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February</a:t>
            </a:r>
            <a:r>
              <a:rPr lang="en-US" sz="1200" dirty="0"/>
              <a:t> </a:t>
            </a:r>
            <a:endParaRPr lang="en-IN" sz="1200" dirty="0"/>
          </a:p>
          <a:p>
            <a:r>
              <a:rPr lang="en-US" sz="1200" dirty="0"/>
              <a:t>Complete documentation and prepare for demo presentation</a:t>
            </a:r>
            <a:endParaRPr lang="en-IN" sz="1200" dirty="0"/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March</a:t>
            </a:r>
            <a:r>
              <a:rPr lang="en-US" sz="1200" dirty="0"/>
              <a:t> </a:t>
            </a:r>
            <a:endParaRPr lang="en-IN" sz="1200" dirty="0"/>
          </a:p>
          <a:p>
            <a:r>
              <a:rPr lang="en-US" sz="1200" dirty="0"/>
              <a:t>Conduct final presentation and project submission. Finalize user manuals and project report. </a:t>
            </a:r>
            <a:endParaRPr lang="en-IN" sz="1200" dirty="0"/>
          </a:p>
          <a:p>
            <a:r>
              <a:rPr lang="en-US" sz="1200" dirty="0"/>
              <a:t>Create PPT and video demo. Submit complete project report.</a:t>
            </a:r>
          </a:p>
        </p:txBody>
      </p:sp>
    </p:spTree>
    <p:extLst>
      <p:ext uri="{BB962C8B-B14F-4D97-AF65-F5344CB8AC3E}">
        <p14:creationId xmlns:p14="http://schemas.microsoft.com/office/powerpoint/2010/main" val="739632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7288FAD-2EA0-4D81-6589-57AFCC378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>
            <a:extLst>
              <a:ext uri="{FF2B5EF4-FFF2-40B4-BE49-F238E27FC236}">
                <a16:creationId xmlns:a16="http://schemas.microsoft.com/office/drawing/2014/main" id="{FD16A525-05D5-9E59-5694-D0061CB979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>
            <a:extLst>
              <a:ext uri="{FF2B5EF4-FFF2-40B4-BE49-F238E27FC236}">
                <a16:creationId xmlns:a16="http://schemas.microsoft.com/office/drawing/2014/main" id="{0D701FAC-8098-E523-8079-E1FFA84083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22159F49-5DEA-0578-C5FB-0B48E1384C2D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77D8B751-EC4B-4C19-25BE-5FCB9FD2E052}"/>
              </a:ext>
            </a:extLst>
          </p:cNvPr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Shikshan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Mahurzari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Near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Katol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Road, Nagpur-441501</a:t>
            </a:r>
            <a:endParaRPr dirty="0"/>
          </a:p>
        </p:txBody>
      </p:sp>
      <p:sp>
        <p:nvSpPr>
          <p:cNvPr id="114" name="Google Shape;114;p3">
            <a:extLst>
              <a:ext uri="{FF2B5EF4-FFF2-40B4-BE49-F238E27FC236}">
                <a16:creationId xmlns:a16="http://schemas.microsoft.com/office/drawing/2014/main" id="{EA703271-4E32-6038-F6CC-489E161D5327}"/>
              </a:ext>
            </a:extLst>
          </p:cNvPr>
          <p:cNvSpPr txBox="1"/>
          <p:nvPr/>
        </p:nvSpPr>
        <p:spPr>
          <a:xfrm>
            <a:off x="592393" y="1181025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485"/>
            </a:pPr>
            <a:r>
              <a:rPr lang="en-I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Budget Utilisation &amp; Resource Requirements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4B2B12BD-529B-D411-72B8-E00532B8CB7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>
            <a:extLst>
              <a:ext uri="{FF2B5EF4-FFF2-40B4-BE49-F238E27FC236}">
                <a16:creationId xmlns:a16="http://schemas.microsoft.com/office/drawing/2014/main" id="{74B331D6-F26E-1ABB-D4F9-A85C1B08C461}"/>
              </a:ext>
            </a:extLst>
          </p:cNvPr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97861-FADD-1C35-A337-9684599224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7069" y="1744953"/>
            <a:ext cx="7503860" cy="27743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315179-BFAB-EDDE-733A-33D9B5613677}"/>
              </a:ext>
            </a:extLst>
          </p:cNvPr>
          <p:cNvSpPr txBox="1"/>
          <p:nvPr/>
        </p:nvSpPr>
        <p:spPr>
          <a:xfrm>
            <a:off x="677069" y="4744622"/>
            <a:ext cx="75038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Resource Requirements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Cloud hosting account (Firebase/AWS)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Voice recognition API subscriptions for multiple </a:t>
            </a:r>
            <a:r>
              <a:rPr lang="en-US" dirty="0" err="1"/>
              <a:t>languagesTesting</a:t>
            </a:r>
            <a:r>
              <a:rPr lang="en-US" dirty="0"/>
              <a:t> devices (smartphones, tablets, computers)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to agricultural datasets for ML modules</a:t>
            </a:r>
            <a:r>
              <a:rPr lang="en-IN" dirty="0"/>
              <a:t>.</a:t>
            </a:r>
            <a:r>
              <a:rPr lang="en-US" dirty="0"/>
              <a:t> 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Skilled manpower for final testing and deployment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012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9115759-4600-206D-1BA5-0F32240ED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>
            <a:extLst>
              <a:ext uri="{FF2B5EF4-FFF2-40B4-BE49-F238E27FC236}">
                <a16:creationId xmlns:a16="http://schemas.microsoft.com/office/drawing/2014/main" id="{19CE61CE-6102-727B-1E00-FF99400C33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>
            <a:extLst>
              <a:ext uri="{FF2B5EF4-FFF2-40B4-BE49-F238E27FC236}">
                <a16:creationId xmlns:a16="http://schemas.microsoft.com/office/drawing/2014/main" id="{C3805351-A11F-6B40-54CE-9BC1C3B6BE2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F4476AE7-C697-C517-DC3E-925441E98521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8667BC8C-3DF0-9F1E-F17C-E17F31740308}"/>
              </a:ext>
            </a:extLst>
          </p:cNvPr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Sai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Shikshan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No.13/2,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Mahurzari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Near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Fetri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Katol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Road, Nagpur-441501</a:t>
            </a:r>
            <a:endParaRPr dirty="0"/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950B49F1-3CB5-C567-1D32-4994BA57E5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>
            <a:extLst>
              <a:ext uri="{FF2B5EF4-FFF2-40B4-BE49-F238E27FC236}">
                <a16:creationId xmlns:a16="http://schemas.microsoft.com/office/drawing/2014/main" id="{DDC74556-AE33-00D6-C189-8B7B8CDD43E9}"/>
              </a:ext>
            </a:extLst>
          </p:cNvPr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1A942-EE1F-A687-6385-5E253334EEE6}"/>
              </a:ext>
            </a:extLst>
          </p:cNvPr>
          <p:cNvSpPr txBox="1"/>
          <p:nvPr/>
        </p:nvSpPr>
        <p:spPr>
          <a:xfrm>
            <a:off x="493636" y="1242532"/>
            <a:ext cx="5347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Conclusion &amp; 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D9452F-4861-615A-4D95-5E9EEBA7F5BA}"/>
              </a:ext>
            </a:extLst>
          </p:cNvPr>
          <p:cNvSpPr txBox="1"/>
          <p:nvPr/>
        </p:nvSpPr>
        <p:spPr>
          <a:xfrm>
            <a:off x="557780" y="2288509"/>
            <a:ext cx="7970862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Conclusion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Agriculture Support System is progressing as planned, with UI/UX design, voice interface layouts, and core module planning completed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 of advanced modules and backend integration is underway, ensuring the project meets its aim of empowering farmers through a multi-functional, multilingual platform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Preliminary testing shows positive results, especially in usability and voice input accuracy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US" sz="1600" b="1" dirty="0"/>
              <a:t>Future Scope</a:t>
            </a: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 the system to include AI-based predictive analytics for crop yield and weather patterns.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 </a:t>
            </a:r>
            <a:r>
              <a:rPr lang="en-US" dirty="0" err="1"/>
              <a:t>IoT</a:t>
            </a:r>
            <a:r>
              <a:rPr lang="en-US" dirty="0"/>
              <a:t>-based sensors for real-time soil and crop health monitoring. 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 </a:t>
            </a:r>
            <a:r>
              <a:rPr lang="en-US" dirty="0" err="1"/>
              <a:t>chatbot</a:t>
            </a:r>
            <a:r>
              <a:rPr lang="en-US" dirty="0"/>
              <a:t> capabilities with deep learning for natural conversation in multiple regional languages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Scale platform for nationwide adoption with additional support for more languages and localized schemes. 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mobile-first version optimized for rural internet connectivity and low-end devices.</a:t>
            </a:r>
          </a:p>
        </p:txBody>
      </p:sp>
    </p:spTree>
    <p:extLst>
      <p:ext uri="{BB962C8B-B14F-4D97-AF65-F5344CB8AC3E}">
        <p14:creationId xmlns:p14="http://schemas.microsoft.com/office/powerpoint/2010/main" val="1714001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9264" y="461963"/>
            <a:ext cx="2274072" cy="220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/>
          <p:nvPr/>
        </p:nvSpPr>
        <p:spPr>
          <a:xfrm>
            <a:off x="1926150" y="3017520"/>
            <a:ext cx="5291705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184" name="Google Shape;184;p9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CSE, NIT, Nagpur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1174</Words>
  <Application>Microsoft Office PowerPoint</Application>
  <PresentationFormat>On-screen Show (4:3)</PresentationFormat>
  <Paragraphs>166</Paragraphs>
  <Slides>15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Shri Sai Shikshan Sanstha’s NAGPUR INSTITUTE OF TECHNOLOGY, NAGPUR Survey No.13/2, Mahurzari, Near Fetri, Katol Road, Nagpur-441501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</dc:creator>
  <cp:lastModifiedBy>Sanskruti Patil</cp:lastModifiedBy>
  <cp:revision>20</cp:revision>
  <dcterms:created xsi:type="dcterms:W3CDTF">2006-08-16T00:00:00Z</dcterms:created>
  <dcterms:modified xsi:type="dcterms:W3CDTF">2025-10-10T05:51:40Z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4FCED963FBAA45A5BD19056300DDB2F5_12</vt:lpwstr>
  </property>
  <property fmtid="{D5CDD505-2E9C-101B-9397-08002B2CF9AE}" pid="3" name="KSOProductBuildVer">
    <vt:lpwstr>1033-12.2.0.19307</vt:lpwstr>
  </property>
</Properties>
</file>